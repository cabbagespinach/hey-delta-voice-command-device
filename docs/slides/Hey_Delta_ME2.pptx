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akeword" id="{6eb07ed1-549f-9785-d762-d96dde0e006d}">
          <p14:sldIdLst>
            <p14:sldId id="256"/>
          </p14:sldIdLst>
        </p14:section>
        <p14:section name="Commands" id="{65f049d7-1cf0-1b12-f6ad-0af79987f6f3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Wakeword model: data/deliverables/model/runs/bcresnet6 (round 1c). Threshold 0.7335 = lowest with &lt;=1% false positives in every negative category on validation; 2-of-3 rule, 1 s refractory. Wake detect and false-wake numbers come from the class benchmark of 2026-10-03 (202 trials with the wake word, 16 without; 2026-10-02: 199 of 202, 0 of 16). Held-out test: model/runs/bcresnet6/test/test_report.md. Latency 4.8 ms was measured on one server CPU core, not on the Pi. What made the difference (data/deliverables/model/README.md): (1) round 1 trained on 5 TTS voices: validation synthetic 17/27 (one unseen voice, 63%); with 405 Whisper-verified Piper voices 176/194 (91%). (2) short clips were padded with quiet before augmentation, so quiet flanks became a cue; adding background over the whole window cut Qualcomm 'Hey/Hi + word' false accepts from 3.7% to 0.07%. (3) hard-negative mining lowered the threshold to 0.45 and raised streaming false accepts to 17.3/h (vs 6.2/h), so it was not used. Pi resource numbers: class benchmark run 20261002-135144 on the Pi 5 (60 min, 202 trials), runtime process = the full listener with the wakeword + hf_plus command model (data/deliverables/evaluation/20261002-135144/report.md). The 2026-10-03 run is not used for CPU/RAM: there the Pi ran three command models side by side (145 MB).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 model: bcresnet6_hf_plus (data/deliverables/command_classifier/model/runs/bcresnet6_hf_plus), balanced rule: act on the top class only if its probability &gt;= 0.34. Validation = class benchmark run 20261003-075251 on the Pi 5 (202 trials + 16 without wake word, holdout HF da92a79, seed 79276), hf_plus balanced column of data/deliverables/evaluation/benchmark_comparison.md. In that run the Pi ran several command models on every capture; hf_plus balanced was scored with the benchmark's --rescore on the same captures. Reply latency = time to the Pi's first answer in that run. RAM 109 MB is from the one-model run of 2026-10-02. Same captures, cautious rule (0.61): 75.2% intent accuracy, 25.3% rejected, 1.6% misfire, 0 of 16 non-commands acting. 2026-10-02 cautious run: 69.8%. 191,672 trainable parameters; the ONNX file holds 474,512 numbers because it includes the fixed audio front end, see presentation_guidelines.txt. Training loss 1.05 is on augmented clips with label smoothing. Where it fails (not on the slide): false reject 14.0% vs misfire 2.2%; the 4 misfires are opposites (Lower the volume -&gt; VOLUME_UP twice; Stop playing music / Turn off the music -&gt; PLAY_MUSIC); the 1 false accept: 'Start the washing machine.' -&gt; LIGHT_OFF. Rejections: BRIGHTNESS, TEMPERATURE, TIMER, ALARM, PAUSE 3 each. PAUSE 3 of 6, STOP 3 of 6. Training data (data/commands_hf_only.csv vs data/commands_hf_plus.csv, train split): command clips 10,323 vs 77,465; Pi-microphone clips = owner recordings + voice-converted owner clips + room background + owner fragments. Added data vs HF only: same 202 captures, balanced cutoffs (hf_only 0.67, hf_plus 0.34); our added data = owner Pi recordings, public sets (GSC, Fluent Speech Commands, SLURP, Timers and Such), Philippine-accent TTS + voice clones, phrasing variants, non-command speech and noise. Both BC-ResNet-6, same recipe.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C_SHEE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41248"/>
            <a:ext cx="1133856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11480" y="1188720"/>
            <a:ext cx="113385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ME2 — Hey Delta Wakeword Model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41248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Always-on “Hey Delta” detection on the Pi · fully offline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11480" y="118872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October 2026 · Arvir Jane R. Redondo · Model · Training on A100 · Validation on Raspberry Pi 5</a:t>
            </a:r>
            <a:endParaRPr lang="en-US" sz="1400" dirty="0"/>
          </a:p>
        </p:txBody>
      </p:sp>
      <p:sp>
        <p:nvSpPr>
          <p:cNvPr id="5" name="Heading Model"/>
          <p:cNvSpPr txBox="1"/>
          <p:nvPr/>
        </p:nvSpPr>
        <p:spPr>
          <a:xfrm>
            <a:off x="411480" y="16276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Model</a:t>
            </a:r>
            <a:endParaRPr lang="en-US" sz="1900" dirty="0"/>
          </a:p>
        </p:txBody>
      </p:sp>
      <p:sp>
        <p:nvSpPr>
          <p:cNvPr id="6" name="Block Mic · 16 kHz → log-mel 40 × 147 (1.5 s, every 100 ms)"/>
          <p:cNvSpPr/>
          <p:nvPr/>
        </p:nvSpPr>
        <p:spPr>
          <a:xfrm>
            <a:off x="411480" y="1975104"/>
            <a:ext cx="5532120" cy="365760"/>
          </a:xfrm>
          <a:prstGeom prst="roundRect">
            <a:avLst>
              <a:gd name="adj" fmla="val 15000"/>
            </a:avLst>
          </a:prstGeom>
          <a:solidFill>
            <a:schemeClr val="accent5">
              <a:alpha val="16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" name="Block text Mic · 16 kHz → log-mel 40 × 147 (1.5 s, every 100 ms)"/>
          <p:cNvSpPr txBox="1"/>
          <p:nvPr/>
        </p:nvSpPr>
        <p:spPr>
          <a:xfrm>
            <a:off x="411480" y="1975104"/>
            <a:ext cx="5532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Mic · 16 kHz → log-mel 40 × 147 (1.5 s, every 100 ms)</a:t>
            </a:r>
            <a:endParaRPr lang="en-US" sz="1300" dirty="0"/>
          </a:p>
        </p:txBody>
      </p:sp>
      <p:sp>
        <p:nvSpPr>
          <p:cNvPr id="8" name="Block BC-ResNet-6 encoder × 12 blocks · 96 → 192 channels"/>
          <p:cNvSpPr/>
          <p:nvPr/>
        </p:nvSpPr>
        <p:spPr>
          <a:xfrm>
            <a:off x="411480" y="2395728"/>
            <a:ext cx="5532120" cy="493776"/>
          </a:xfrm>
          <a:prstGeom prst="roundRect">
            <a:avLst>
              <a:gd name="adj" fmla="val 11111"/>
            </a:avLst>
          </a:prstGeom>
          <a:solidFill>
            <a:schemeClr val="accent2">
              <a:alpha val="16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Block text BC-ResNet-6 encoder × 12 blocks · 96 → 192 channels"/>
          <p:cNvSpPr txBox="1"/>
          <p:nvPr/>
        </p:nvSpPr>
        <p:spPr>
          <a:xfrm>
            <a:off x="411480" y="2395728"/>
            <a:ext cx="553212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BC-ResNet-6 encoder × 12 blocks · 96 → 192 channels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frequency (2-D) + temporal (1-D) branches · dilation 1, 2, 4, 8</a:t>
            </a:r>
            <a:endParaRPr lang="en-US" sz="1300" dirty="0"/>
          </a:p>
        </p:txBody>
      </p:sp>
      <p:sp>
        <p:nvSpPr>
          <p:cNvPr id="10" name="Block Wake head · 1 logit → sigmoid"/>
          <p:cNvSpPr/>
          <p:nvPr/>
        </p:nvSpPr>
        <p:spPr>
          <a:xfrm>
            <a:off x="411480" y="2944368"/>
            <a:ext cx="2720340" cy="347472"/>
          </a:xfrm>
          <a:prstGeom prst="roundRect">
            <a:avLst>
              <a:gd name="adj" fmla="val 15789"/>
            </a:avLst>
          </a:prstGeom>
          <a:solidFill>
            <a:schemeClr val="accent3">
              <a:alpha val="16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Block text Wake head · 1 logit → sigmoid"/>
          <p:cNvSpPr txBox="1"/>
          <p:nvPr/>
        </p:nvSpPr>
        <p:spPr>
          <a:xfrm>
            <a:off x="411480" y="2944368"/>
            <a:ext cx="27203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Wake head · 1 logit → sigmoid</a:t>
            </a:r>
            <a:endParaRPr lang="en-US" sz="1200" dirty="0"/>
          </a:p>
        </p:txBody>
      </p:sp>
      <p:sp>
        <p:nvSpPr>
          <p:cNvPr id="12" name="Block Fires: 2 of 3 windows ≥ 0.7335"/>
          <p:cNvSpPr/>
          <p:nvPr/>
        </p:nvSpPr>
        <p:spPr>
          <a:xfrm>
            <a:off x="3223260" y="2944368"/>
            <a:ext cx="2720340" cy="347472"/>
          </a:xfrm>
          <a:prstGeom prst="roundRect">
            <a:avLst>
              <a:gd name="adj" fmla="val 15789"/>
            </a:avLst>
          </a:prstGeom>
          <a:solidFill>
            <a:schemeClr val="accent3">
              <a:alpha val="16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Block text Fires: 2 of 3 windows ≥ 0.7335"/>
          <p:cNvSpPr txBox="1"/>
          <p:nvPr/>
        </p:nvSpPr>
        <p:spPr>
          <a:xfrm>
            <a:off x="3223260" y="2944368"/>
            <a:ext cx="27203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Fires: 2 of 3 windows ≥ 0.7335</a:t>
            </a:r>
            <a:endParaRPr lang="en-US" sz="1200" dirty="0"/>
          </a:p>
        </p:txBody>
      </p:sp>
      <p:sp>
        <p:nvSpPr>
          <p:cNvPr id="14" name="Block Chime → command capture"/>
          <p:cNvSpPr/>
          <p:nvPr/>
        </p:nvSpPr>
        <p:spPr>
          <a:xfrm>
            <a:off x="411480" y="3346704"/>
            <a:ext cx="2720340" cy="347472"/>
          </a:xfrm>
          <a:prstGeom prst="roundRect">
            <a:avLst>
              <a:gd name="adj" fmla="val 15789"/>
            </a:avLst>
          </a:prstGeom>
          <a:solidFill>
            <a:schemeClr val="accent4">
              <a:alpha val="16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5" name="Block text Chime → command capture"/>
          <p:cNvSpPr txBox="1"/>
          <p:nvPr/>
        </p:nvSpPr>
        <p:spPr>
          <a:xfrm>
            <a:off x="411480" y="3346704"/>
            <a:ext cx="27203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Chime → command capture</a:t>
            </a:r>
            <a:endParaRPr lang="en-US" sz="1200" dirty="0"/>
          </a:p>
        </p:txBody>
      </p:sp>
      <p:sp>
        <p:nvSpPr>
          <p:cNvPr id="16" name="Block Raspberry Pi 5 · 4 GB"/>
          <p:cNvSpPr/>
          <p:nvPr/>
        </p:nvSpPr>
        <p:spPr>
          <a:xfrm>
            <a:off x="3223260" y="3346704"/>
            <a:ext cx="2720340" cy="347472"/>
          </a:xfrm>
          <a:prstGeom prst="roundRect">
            <a:avLst>
              <a:gd name="adj" fmla="val 15789"/>
            </a:avLst>
          </a:prstGeom>
          <a:solidFill>
            <a:schemeClr val="accent2">
              <a:alpha val="16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Block text Raspberry Pi 5 · 4 GB"/>
          <p:cNvSpPr txBox="1"/>
          <p:nvPr/>
        </p:nvSpPr>
        <p:spPr>
          <a:xfrm>
            <a:off x="3223260" y="3346704"/>
            <a:ext cx="27203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Raspberry Pi 5 · 4 GB</a:t>
            </a:r>
            <a:endParaRPr lang="en-US" sz="1200" dirty="0"/>
          </a:p>
        </p:txBody>
      </p:sp>
      <p:graphicFrame>
        <p:nvGraphicFramePr>
          <p:cNvPr id="2" name="Table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03904"/>
          <a:ext cx="55321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66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Parameters / weights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0.19 M (185,689) · 2.0 MB fp32 ONNX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19" name="Heading Validation on the Raspberry Pi 5"/>
          <p:cNvSpPr txBox="1"/>
          <p:nvPr/>
        </p:nvSpPr>
        <p:spPr>
          <a:xfrm>
            <a:off x="411480" y="444398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Validation on the Raspberry Pi 5</a:t>
            </a:r>
            <a:endParaRPr lang="en-US" sz="1900" dirty="0"/>
          </a:p>
        </p:txBody>
      </p:sp>
      <p:graphicFrame>
        <p:nvGraphicFramePr>
          <p:cNvPr id="3" name="Table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773168"/>
          <a:ext cx="55321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66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Wake detect / false wake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100% (202 of 202) / 0 of 16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Held-out test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real Pi 33/33 · new TTS voices 86% · FPR ≤ 0.16%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Latency / RTF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4.8 ms per 1.5 s window (server core) / 0.003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Runtime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onnxruntime · 1 thread · fp32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Heading What made the difference"/>
          <p:cNvSpPr txBox="1"/>
          <p:nvPr/>
        </p:nvSpPr>
        <p:spPr>
          <a:xfrm>
            <a:off x="6263640" y="1627632"/>
            <a:ext cx="551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What made the difference</a:t>
            </a:r>
            <a:endParaRPr lang="en-US" sz="1900" dirty="0"/>
          </a:p>
        </p:txBody>
      </p:sp>
      <p:graphicFrame>
        <p:nvGraphicFramePr>
          <p:cNvPr id="4" name="Table Chan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56816"/>
          <a:ext cx="551383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63931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Change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Effect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+405 TTS voices (train had 5)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Unseen voices detected: 63% → 91%. The model had memorised the 5 voices.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Noise over the whole window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“Hey + word” false accepts: 3.7% → 0.07%. Quiet padding had become a shortcut cue.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Hard-negative mining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Did not help: 17.3 vs 6.2 false accepts per hour, so it was not used.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23" name="Heading Training on the A100 cluster"/>
          <p:cNvSpPr txBox="1"/>
          <p:nvPr/>
        </p:nvSpPr>
        <p:spPr>
          <a:xfrm>
            <a:off x="6263640" y="3584448"/>
            <a:ext cx="551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Training on the A100 cluster</a:t>
            </a:r>
            <a:endParaRPr lang="en-US" sz="1900" dirty="0"/>
          </a:p>
        </p:txBody>
      </p:sp>
      <p:graphicFrame>
        <p:nvGraphicFramePr>
          <p:cNvPr id="5" name="Table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913632"/>
          <a:ext cx="551383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63931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Cluster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 × A100-SXM4-40GB (8-GPU node, UP COE HPC)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Objective / optimiser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BCE, smoothing 0.05 · AdamW lr 2e-3, cosine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Epochs / loss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60 epochs, 26 min · best epoch 36 / 0.167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25" name="Heading Pi 5 resource use (both models running)"/>
          <p:cNvSpPr txBox="1"/>
          <p:nvPr/>
        </p:nvSpPr>
        <p:spPr>
          <a:xfrm>
            <a:off x="6263640" y="5047488"/>
            <a:ext cx="551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Pi 5 resource use (both models running)</a:t>
            </a:r>
            <a:endParaRPr lang="en-US" sz="1900" dirty="0"/>
          </a:p>
        </p:txBody>
      </p:sp>
      <p:graphicFrame>
        <p:nvGraphicFramePr>
          <p:cNvPr id="6" name="Table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5376672"/>
          <a:ext cx="551383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63931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CPU (runtime)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12.8% of one core on average, 22.8% at most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RAM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109 MB runtime · 648 MB of 4 GB for the whole Pi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Temperature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54.5 °C mean, 57.3 °C max · no throttling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ME2 — Hey Delta Command Model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41248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Fixed-vocabulary intent recognition at the edge · no speech-to-text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11480" y="118872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October 2026 · Arvir Jane R. Redondo · Model · Training on A100 · Validation on Raspberry Pi 5</a:t>
            </a:r>
            <a:endParaRPr lang="en-US" sz="1400" dirty="0"/>
          </a:p>
        </p:txBody>
      </p:sp>
      <p:sp>
        <p:nvSpPr>
          <p:cNvPr id="5" name="Heading Model"/>
          <p:cNvSpPr txBox="1"/>
          <p:nvPr/>
        </p:nvSpPr>
        <p:spPr>
          <a:xfrm>
            <a:off x="411480" y="162763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Model</a:t>
            </a:r>
            <a:endParaRPr lang="en-US" sz="1900" dirty="0"/>
          </a:p>
        </p:txBody>
      </p:sp>
      <p:sp>
        <p:nvSpPr>
          <p:cNvPr id="6" name="Block Captured clip · 16 kHz → log-mel 40 × 497 (5 s)"/>
          <p:cNvSpPr/>
          <p:nvPr/>
        </p:nvSpPr>
        <p:spPr>
          <a:xfrm>
            <a:off x="411480" y="1975104"/>
            <a:ext cx="5532120" cy="365760"/>
          </a:xfrm>
          <a:prstGeom prst="roundRect">
            <a:avLst>
              <a:gd name="adj" fmla="val 15000"/>
            </a:avLst>
          </a:prstGeom>
          <a:solidFill>
            <a:schemeClr val="accent5">
              <a:alpha val="16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" name="Block text Captured clip · 16 kHz → log-mel 40 × 497 (5 s)"/>
          <p:cNvSpPr txBox="1"/>
          <p:nvPr/>
        </p:nvSpPr>
        <p:spPr>
          <a:xfrm>
            <a:off x="411480" y="1975104"/>
            <a:ext cx="5532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Captured clip · 16 kHz → log-mel 40 × 497 (5 s)</a:t>
            </a:r>
            <a:endParaRPr lang="en-US" sz="1300" dirty="0"/>
          </a:p>
        </p:txBody>
      </p:sp>
      <p:sp>
        <p:nvSpPr>
          <p:cNvPr id="8" name="Block BC-ResNet-6 encoder × 12 blocks · 96 → 192 channels"/>
          <p:cNvSpPr/>
          <p:nvPr/>
        </p:nvSpPr>
        <p:spPr>
          <a:xfrm>
            <a:off x="411480" y="2395728"/>
            <a:ext cx="5532120" cy="493776"/>
          </a:xfrm>
          <a:prstGeom prst="roundRect">
            <a:avLst>
              <a:gd name="adj" fmla="val 11111"/>
            </a:avLst>
          </a:prstGeom>
          <a:solidFill>
            <a:schemeClr val="accent2">
              <a:alpha val="16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Block text BC-ResNet-6 encoder × 12 blocks · 96 → 192 channels"/>
          <p:cNvSpPr txBox="1"/>
          <p:nvPr/>
        </p:nvSpPr>
        <p:spPr>
          <a:xfrm>
            <a:off x="411480" y="2395728"/>
            <a:ext cx="553212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BC-ResNet-6 encoder × 12 blocks · 96 → 192 channels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same trunk as the wakeword model · only the head differs</a:t>
            </a:r>
            <a:endParaRPr lang="en-US" sz="1300" dirty="0"/>
          </a:p>
        </p:txBody>
      </p:sp>
      <p:sp>
        <p:nvSpPr>
          <p:cNvPr id="10" name="Block Intent head · 32-way softmax"/>
          <p:cNvSpPr/>
          <p:nvPr/>
        </p:nvSpPr>
        <p:spPr>
          <a:xfrm>
            <a:off x="411480" y="2944368"/>
            <a:ext cx="2720340" cy="347472"/>
          </a:xfrm>
          <a:prstGeom prst="roundRect">
            <a:avLst>
              <a:gd name="adj" fmla="val 15789"/>
            </a:avLst>
          </a:prstGeom>
          <a:solidFill>
            <a:schemeClr val="accent3">
              <a:alpha val="16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Block text Intent head · 32-way softmax"/>
          <p:cNvSpPr txBox="1"/>
          <p:nvPr/>
        </p:nvSpPr>
        <p:spPr>
          <a:xfrm>
            <a:off x="411480" y="2944368"/>
            <a:ext cx="27203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Intent head · 32-way softmax</a:t>
            </a:r>
            <a:endParaRPr lang="en-US" sz="1200" dirty="0"/>
          </a:p>
        </p:txBody>
      </p:sp>
      <p:sp>
        <p:nvSpPr>
          <p:cNvPr id="12" name="Block Slots in classes, e.g. TIMER_30S"/>
          <p:cNvSpPr/>
          <p:nvPr/>
        </p:nvSpPr>
        <p:spPr>
          <a:xfrm>
            <a:off x="3223260" y="2944368"/>
            <a:ext cx="2720340" cy="347472"/>
          </a:xfrm>
          <a:prstGeom prst="roundRect">
            <a:avLst>
              <a:gd name="adj" fmla="val 15789"/>
            </a:avLst>
          </a:prstGeom>
          <a:solidFill>
            <a:schemeClr val="accent3">
              <a:alpha val="16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3" name="Block text Slots in classes, e.g. TIMER_30S"/>
          <p:cNvSpPr txBox="1"/>
          <p:nvPr/>
        </p:nvSpPr>
        <p:spPr>
          <a:xfrm>
            <a:off x="3223260" y="2944368"/>
            <a:ext cx="27203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Slots in classes, e.g. TIMER_30S</a:t>
            </a:r>
            <a:endParaRPr lang="en-US" sz="1200" dirty="0"/>
          </a:p>
        </p:txBody>
      </p:sp>
      <p:sp>
        <p:nvSpPr>
          <p:cNvPr id="14" name="Block Actuator · bulb, phone, music"/>
          <p:cNvSpPr/>
          <p:nvPr/>
        </p:nvSpPr>
        <p:spPr>
          <a:xfrm>
            <a:off x="411480" y="3346704"/>
            <a:ext cx="2720340" cy="347472"/>
          </a:xfrm>
          <a:prstGeom prst="roundRect">
            <a:avLst>
              <a:gd name="adj" fmla="val 15789"/>
            </a:avLst>
          </a:prstGeom>
          <a:solidFill>
            <a:schemeClr val="accent4">
              <a:alpha val="16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5" name="Block text Actuator · bulb, phone, music"/>
          <p:cNvSpPr txBox="1"/>
          <p:nvPr/>
        </p:nvSpPr>
        <p:spPr>
          <a:xfrm>
            <a:off x="411480" y="3346704"/>
            <a:ext cx="27203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Actuator · bulb, phone, music</a:t>
            </a:r>
            <a:endParaRPr lang="en-US" sz="1200" dirty="0"/>
          </a:p>
        </p:txBody>
      </p:sp>
      <p:sp>
        <p:nvSpPr>
          <p:cNvPr id="16" name="Block Raspberry Pi 5 · 4 GB"/>
          <p:cNvSpPr/>
          <p:nvPr/>
        </p:nvSpPr>
        <p:spPr>
          <a:xfrm>
            <a:off x="3223260" y="3346704"/>
            <a:ext cx="2720340" cy="347472"/>
          </a:xfrm>
          <a:prstGeom prst="roundRect">
            <a:avLst>
              <a:gd name="adj" fmla="val 15789"/>
            </a:avLst>
          </a:prstGeom>
          <a:solidFill>
            <a:schemeClr val="accent2">
              <a:alpha val="16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Block text Raspberry Pi 5 · 4 GB"/>
          <p:cNvSpPr txBox="1"/>
          <p:nvPr/>
        </p:nvSpPr>
        <p:spPr>
          <a:xfrm>
            <a:off x="3223260" y="3346704"/>
            <a:ext cx="27203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Raspberry Pi 5 · 4 GB</a:t>
            </a:r>
            <a:endParaRPr lang="en-US" sz="1200" dirty="0"/>
          </a:p>
        </p:txBody>
      </p:sp>
      <p:graphicFrame>
        <p:nvGraphicFramePr>
          <p:cNvPr id="3" name="Table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03904"/>
          <a:ext cx="55321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66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Parameters / weights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0.19 M trainable (191,672) · 1.91 MB ONNX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19" name="Heading Validation on the Raspberry Pi 5"/>
          <p:cNvSpPr txBox="1"/>
          <p:nvPr/>
        </p:nvSpPr>
        <p:spPr>
          <a:xfrm>
            <a:off x="411480" y="444398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Validation on the Raspberry Pi 5</a:t>
            </a:r>
            <a:endParaRPr lang="en-US" sz="1900" dirty="0"/>
          </a:p>
        </p:txBody>
      </p:sp>
      <p:graphicFrame>
        <p:nvGraphicFramePr>
          <p:cNvPr id="5" name="Table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773168"/>
          <a:ext cx="55321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66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Intent / command acc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84.7% / 84.2% (TTS voices 94.3%, real 74.0%)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False-accept rate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6.2% (1 of 16 out-of-scope) · misfire 2.2%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Latency p95 / RTF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72.1 ms inference / 0.012 · reply p95 3.3 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Runtime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onnxruntime · 1 thread · 109 MB RAM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Heading Training data: HF only vs HF + our data"/>
          <p:cNvSpPr txBox="1"/>
          <p:nvPr/>
        </p:nvSpPr>
        <p:spPr>
          <a:xfrm>
            <a:off x="6263640" y="1627632"/>
            <a:ext cx="551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Training data: HF only vs HF + our data</a:t>
            </a:r>
            <a:endParaRPr lang="en-US" sz="1900" dirty="0"/>
          </a:p>
        </p:txBody>
      </p:sp>
      <p:graphicFrame>
        <p:nvGraphicFramePr>
          <p:cNvPr id="7" name="Table What diff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56816"/>
          <a:ext cx="551383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63931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What differs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HF only → HF + our data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Clips / speakers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10,682 → 187,480 clips · 315 → 15,052 speakers (17× the clips)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“Not a command” examples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359 (3%) → 110,015 (59%): other words, speech, noise, cut-off commands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Clips via the Pi microphone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577 → 3,001, incl. voice-converted copies and room background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23" name="Heading Training on the A100 cluster"/>
          <p:cNvSpPr txBox="1"/>
          <p:nvPr/>
        </p:nvSpPr>
        <p:spPr>
          <a:xfrm>
            <a:off x="6263640" y="3584448"/>
            <a:ext cx="551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Training on the A100 cluster</a:t>
            </a:r>
            <a:endParaRPr lang="en-US" sz="1900" dirty="0"/>
          </a:p>
        </p:txBody>
      </p:sp>
      <p:graphicFrame>
        <p:nvGraphicFramePr>
          <p:cNvPr id="9" name="Table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913632"/>
          <a:ext cx="551383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63931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Cluster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 × A100-SXM4-40GB (8-GPU node, UP COE HPC)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Objective / optimiser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cross-entropy, smoothing 0.05 · AdamW 2e-3, cosine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Steps / loss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22,500 steps × 128 (82 min) · best epoch 43 / 1.05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25" name="Heading Benchmark: HF only vs HF + our data"/>
          <p:cNvSpPr txBox="1"/>
          <p:nvPr/>
        </p:nvSpPr>
        <p:spPr>
          <a:xfrm>
            <a:off x="6263640" y="5047488"/>
            <a:ext cx="5513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Benchmark: HF only vs HF + our data</a:t>
            </a:r>
            <a:endParaRPr lang="en-US" sz="1900" dirty="0"/>
          </a:p>
        </p:txBody>
      </p:sp>
      <p:graphicFrame>
        <p:nvGraphicFramePr>
          <p:cNvPr id="11" name="Table Benchmark (same clips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5376672"/>
          <a:ext cx="551383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63931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Benchmark (same clips)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HF only → HF + our data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Intent accuracy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50.5% → 84.7% (balanced cutoff)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Real voices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28.1% → 74.0%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Commands rejected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52.7% → 14.0% · non-commands acting 1 of 16 both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y Delta ME2">
  <a:themeElements>
    <a:clrScheme name="Hey Delta ME2">
      <a:dk1>
        <a:srgbClr val="111111"/>
      </a:dk1>
      <a:lt1>
        <a:srgbClr val="FFFFFF"/>
      </a:lt1>
      <a:dk2>
        <a:srgbClr val="1B2236"/>
      </a:dk2>
      <a:lt2>
        <a:srgbClr val="F1F3F7"/>
      </a:lt2>
      <a:accent1>
        <a:srgbClr val="2D4FD6"/>
      </a:accent1>
      <a:accent2>
        <a:srgbClr val="3E9B3E"/>
      </a:accent2>
      <a:accent3>
        <a:srgbClr val="D39A2E"/>
      </a:accent3>
      <a:accent4>
        <a:srgbClr val="7666C6"/>
      </a:accent4>
      <a:accent5>
        <a:srgbClr val="7F98D6"/>
      </a:accent5>
      <a:accent6>
        <a:srgbClr val="6B7280"/>
      </a:accent6>
      <a:hlink>
        <a:srgbClr val="2D4FD6"/>
      </a:hlink>
      <a:folHlink>
        <a:srgbClr val="7666C6"/>
      </a:folHlink>
    </a:clrScheme>
    <a:fontScheme name="Hey Delta ME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Hey Delta ME2</dc:title>
  <dc:subject>PptxGenJS Presentation</dc:subject>
  <dc:creator>PptxGenJS</dc:creator>
  <cp:lastModifiedBy>PptxGenJS</cp:lastModifiedBy>
  <cp:revision>1</cp:revision>
  <dcterms:created xsi:type="dcterms:W3CDTF">2026-10-03T02:29:12Z</dcterms:created>
  <dcterms:modified xsi:type="dcterms:W3CDTF">2026-10-03T02:29:12Z</dcterms:modified>
</cp:coreProperties>
</file>